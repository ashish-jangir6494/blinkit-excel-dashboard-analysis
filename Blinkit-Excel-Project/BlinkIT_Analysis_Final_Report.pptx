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D5B1-BD90-6E38-4BF2-2F99A4442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AE485-01DD-C63B-5979-505193458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9364-F765-00C2-89B7-42837971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5E41-3BC8-7EDC-8530-C205ED8D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82A0-6176-C3C5-3C87-91F81212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0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3EFD-9221-62AA-CCB0-D8BF97AA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D78B-BDBE-5534-A966-59CD27DA9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04B7-42DF-B7AF-A414-9E5FF266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22B0A-B131-AEE8-9617-3F80953F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D17A-8FF5-9766-C9A4-49A0D4BA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1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1B14-F062-65BD-C009-C7332605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4AD4F-9A93-F8CC-4E36-1E6F0E6EC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3FE19-0CAE-B76C-D848-AD3B6D5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2402-7184-770D-29A5-9FB4A5A5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8FEAB-F001-5611-C236-25AF6721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8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30D5-76BA-AC34-2D79-F864A7A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EB17-C3E4-00A5-17EC-8477C1AE8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5D5A6-3995-BF9D-102C-5C5086250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AAD6F-F28F-0EA9-8C26-2EE36421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EC92F-3025-95E3-1FEA-D8B4D07B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875A2-37BD-900C-7F4E-32D7F259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2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5355-E59D-B9E0-7289-EE7218B0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0F0CF-5DF3-D5B0-1202-D4BA7961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000D6-71DC-67F7-B826-372A6C9F5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67C3D-0A55-A3ED-405C-B1F55B48A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3BA85-B3A4-6F8B-BD75-29138B7A0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0FFB4-E2EA-A2A7-D7AF-A874203F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66B61-99B4-6504-6FC3-4F20903A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45406-01AD-408F-AB37-0F3A0D2C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22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E431-B709-115B-5D3D-5B65894D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6757C-5525-BD44-927E-16428CBE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C6FFD-4A9D-F9BE-4380-DC275CA3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9170B-7F57-6733-685A-8C8975A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7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D3F6E-809F-11D6-E73A-0E4652A9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4818-F8FE-D858-FA08-C616040C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7C67A-329A-53C0-448B-832BD2AD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6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7128-AD5D-E65E-09C2-1D03CB8A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2F24-E9C8-966A-ED90-6C29F8A97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7CBB1-6C73-DA81-F356-D336FAD1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845D0-AD75-11A4-5DAE-D6DA2C83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79EE-B2F6-BF42-FEC4-DD6C2E78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AF596-B4BF-3D26-3AF9-1AD12C82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8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F3E7-27D9-7438-E448-4958B0A7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AD3E6-FE15-DCFB-AC08-6B011DB22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EEB45-1CED-2CCF-37E3-6585D5095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63DB2-8598-A0C7-4773-9F08356C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2EC15-F2B6-1228-8A62-58EB4244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83731-F2D7-6DBF-233C-8640514B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51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0691-6C6F-8820-D871-44EA0071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D4FE8-D90A-A1BB-A0DF-24BFFB42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2A5E8-4BA0-3C42-862C-1C50EB23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B0505-A0A4-1899-697B-1B9D38434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8F52-825B-076C-8053-1D913E72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76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6FDC3-F1B8-CE6C-B08F-CB5891B25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44EC5-A683-B18E-12C2-4F46EEA8E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8FAE-A839-E386-D83A-E776B32A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39287-8F35-37D0-5A98-2AE5618E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9D7B-DE32-A712-B8DE-0C071E0F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8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DFAC7-3FE7-4640-575C-3A26758F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E8DA1-4E4A-D843-8C63-06C09F8F4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D7D6-3B47-420C-B534-9FC8768D0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1DA8E-AB2F-4CCE-AF2E-F06264B1D62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4823E-7324-6BC3-67EF-FA0C634F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BF34-8DCA-5C69-C070-597B98C5B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A386B-5CEA-4593-973C-DF59DBD58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DD48A-4831-C518-8F12-47700010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8B160F-F552-896A-1676-6A65808FEAEE}"/>
              </a:ext>
            </a:extLst>
          </p:cNvPr>
          <p:cNvSpPr txBox="1"/>
          <p:nvPr/>
        </p:nvSpPr>
        <p:spPr>
          <a:xfrm>
            <a:off x="1839685" y="867722"/>
            <a:ext cx="8708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Excel Data Analysis Project – </a:t>
            </a:r>
            <a:r>
              <a:rPr lang="en-US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Blinkit</a:t>
            </a:r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Dataset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8E57F-96A9-54B0-55A4-470B72D46685}"/>
              </a:ext>
            </a:extLst>
          </p:cNvPr>
          <p:cNvSpPr txBox="1"/>
          <p:nvPr/>
        </p:nvSpPr>
        <p:spPr>
          <a:xfrm>
            <a:off x="419100" y="2333685"/>
            <a:ext cx="11353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</a:rPr>
              <a:t>Role: Data Analyst</a:t>
            </a:r>
          </a:p>
          <a:p>
            <a:pPr algn="ctr"/>
            <a:r>
              <a:rPr lang="en-US" sz="3200" b="1" dirty="0">
                <a:latin typeface="+mj-lt"/>
              </a:rPr>
              <a:t>Tools Used: Microsoft Excel, Pivot Tables, Dashboards, AI-Assisted Data Cleaning</a:t>
            </a:r>
          </a:p>
          <a:p>
            <a:pPr lvl="1"/>
            <a:r>
              <a:rPr lang="en-US" sz="3200" b="1" dirty="0">
                <a:latin typeface="+mj-lt"/>
              </a:rPr>
              <a:t>  Project Type: Business Intelligence &amp; Reporting</a:t>
            </a:r>
          </a:p>
          <a:p>
            <a:pPr algn="r"/>
            <a:endParaRPr lang="en-IN" sz="3200" b="1" dirty="0"/>
          </a:p>
          <a:p>
            <a:pPr algn="r"/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IN" sz="3200" b="1" dirty="0"/>
              <a:t>Prepared by:- </a:t>
            </a:r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Ashish Jangir</a:t>
            </a:r>
          </a:p>
          <a:p>
            <a:pPr algn="ctr"/>
            <a:endParaRPr lang="en-IN" sz="3200" b="1" dirty="0"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EE5882-CB6B-D46D-A111-28064C81E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485" y="0"/>
            <a:ext cx="5812973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</a:t>
            </a:r>
          </a:p>
        </p:txBody>
      </p:sp>
    </p:spTree>
    <p:extLst>
      <p:ext uri="{BB962C8B-B14F-4D97-AF65-F5344CB8AC3E}">
        <p14:creationId xmlns:p14="http://schemas.microsoft.com/office/powerpoint/2010/main" val="118540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EF1026-0B3B-C072-916F-29104B5A1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6" y="1012373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F6490-5BB6-78A5-BE9F-7861633D9478}"/>
              </a:ext>
            </a:extLst>
          </p:cNvPr>
          <p:cNvSpPr txBox="1"/>
          <p:nvPr/>
        </p:nvSpPr>
        <p:spPr>
          <a:xfrm>
            <a:off x="1251854" y="1879940"/>
            <a:ext cx="105591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Identify data quality issues</a:t>
            </a:r>
            <a:r>
              <a:rPr lang="en-US" sz="2000" dirty="0"/>
              <a:t> in high-volume transactional data to minimize the risk of incorrect business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Clean and standardize raw data</a:t>
            </a:r>
            <a:r>
              <a:rPr lang="en-US" sz="2000" dirty="0"/>
              <a:t> by handling missing values, inconsistent formats, and unclean records using Excel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Validate data accuracy and consistency</a:t>
            </a:r>
            <a:r>
              <a:rPr lang="en-US" sz="2000" dirty="0"/>
              <a:t> across products, customers, stores, and orders to ensure reliable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Transform cleaned data into structured analytical tables</a:t>
            </a:r>
            <a:r>
              <a:rPr lang="en-US" sz="2000" dirty="0"/>
              <a:t> suitable for KPI calculation and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Analyze sales, orders, discounts, and customer behavior</a:t>
            </a:r>
            <a:r>
              <a:rPr lang="en-US" sz="2000" dirty="0"/>
              <a:t> to uncover meaningful business trends and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Develop an interactive Excel dashboard</a:t>
            </a:r>
            <a:r>
              <a:rPr lang="en-US" sz="2000" dirty="0"/>
              <a:t> with KPIs, charts, and slicers to enable quick and data-driven decision 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Deliver actionable business insights</a:t>
            </a:r>
            <a:r>
              <a:rPr lang="en-US" sz="2000" dirty="0"/>
              <a:t> that support management in monitoring performance and improving operational efficiency.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0CCF526-87B1-612A-91A8-108887874454}"/>
              </a:ext>
            </a:extLst>
          </p:cNvPr>
          <p:cNvSpPr txBox="1">
            <a:spLocks/>
          </p:cNvSpPr>
          <p:nvPr/>
        </p:nvSpPr>
        <p:spPr>
          <a:xfrm>
            <a:off x="2960910" y="144806"/>
            <a:ext cx="5812973" cy="6966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</a:t>
            </a:r>
          </a:p>
        </p:txBody>
      </p:sp>
    </p:spTree>
    <p:extLst>
      <p:ext uri="{BB962C8B-B14F-4D97-AF65-F5344CB8AC3E}">
        <p14:creationId xmlns:p14="http://schemas.microsoft.com/office/powerpoint/2010/main" val="410011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37AB3-7D63-BD19-3673-BF4001E7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1476-39C9-204A-0AE2-1017607A0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9513" y="0"/>
            <a:ext cx="5812973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29A7D-1AE8-9909-D623-C817E7C17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696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Dataset</a:t>
            </a:r>
            <a:r>
              <a:rPr lang="en-IN" sz="3200" dirty="0"/>
              <a:t> </a:t>
            </a:r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Overview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03AB1E-7F4B-C20C-68F3-AD4B581E4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2" y="1676716"/>
            <a:ext cx="1090748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dataset is sourced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Kaggle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is based on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Blinkit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grocery transaction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representing real-world business scenarios.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consists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four interrelated tables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Products, Customers, Stores, and Orders, enabling relational data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dataset contains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sales-level transactional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including order quantity, selling price, discounts, and final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also 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demographics and store information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allowing city-wise, gender-wise, and store-type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structured nature of the dataset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end-to-end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from data cleaning and validation to KPI calculation and dashboard reporting.</a:t>
            </a:r>
          </a:p>
        </p:txBody>
      </p:sp>
    </p:spTree>
    <p:extLst>
      <p:ext uri="{BB962C8B-B14F-4D97-AF65-F5344CB8AC3E}">
        <p14:creationId xmlns:p14="http://schemas.microsoft.com/office/powerpoint/2010/main" val="74294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631FD-CC9D-6825-3DF0-C637A2C1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98C3-C142-6551-283D-CD4D74831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2B5D4-449B-5A49-394A-8AE108140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Quality Issues Identified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AE92DFE-81E9-E830-E2AF-AEFA4C174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115785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One </a:t>
            </a:r>
            <a:r>
              <a:rPr lang="en-US" sz="2000" b="1" dirty="0"/>
              <a:t>intentionally created messy and unclean data row</a:t>
            </a:r>
            <a:r>
              <a:rPr lang="en-US" sz="2000" dirty="0"/>
              <a:t> was introduced using AI to simulate real-world data quality challenges.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Presence of </a:t>
            </a:r>
            <a:r>
              <a:rPr lang="en-US" sz="2000" b="1" dirty="0"/>
              <a:t>inconsistent data formats</a:t>
            </a:r>
            <a:r>
              <a:rPr lang="en-US" sz="2000" dirty="0"/>
              <a:t>, particularly in date and currency fields, impacting uniform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Missing and invalid values</a:t>
            </a:r>
            <a:r>
              <a:rPr lang="en-US" sz="2000" dirty="0"/>
              <a:t> were identified across key transactional and reference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entry inconsistencies</a:t>
            </a:r>
            <a:r>
              <a:rPr lang="en-US" sz="2000" dirty="0"/>
              <a:t> such as irregular text values and formatting issues were observed.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validation challenges</a:t>
            </a:r>
            <a:r>
              <a:rPr lang="en-US" sz="2000" dirty="0"/>
              <a:t> were present due to the lack of standardized rules across multiple tables.</a:t>
            </a:r>
          </a:p>
        </p:txBody>
      </p:sp>
    </p:spTree>
    <p:extLst>
      <p:ext uri="{BB962C8B-B14F-4D97-AF65-F5344CB8AC3E}">
        <p14:creationId xmlns:p14="http://schemas.microsoft.com/office/powerpoint/2010/main" val="286816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14F6F-902F-A588-FFDF-23B0C596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6502-071E-6B35-DDC8-4DEF7CF64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2BEDB-A1E0-2B9F-4FB6-79E2B9BC5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Cleaning Process – Step 1</a:t>
            </a:r>
            <a:endParaRPr lang="en-IN" sz="3200" dirty="0">
              <a:solidFill>
                <a:schemeClr val="tx2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3CB7D0-C7A6-BD47-609E-5E533204E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124494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to Columns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split and standardize combined or improperly structured data fields.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TRIM and CLEAN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remove extra spaces, non-printable characters, and unwanted text inconsistencies.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Standardized date formats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all tables to ensure consistency in time-based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Converted numeric fields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proper number formats to support accurate calculations and aggregations.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currency symbols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price-related columns to enable mathematical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39055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9D235-CB12-F6E1-EA90-859C8F3A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FE85-1575-53DF-BF9A-F9619DCA3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274B1-C133-E874-5441-899B6CB54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Cleaning Process – Step 2</a:t>
            </a:r>
            <a:endParaRPr lang="en-IN" sz="3200" dirty="0">
              <a:solidFill>
                <a:schemeClr val="tx2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8775DB-2B0B-B931-E803-057B3C15E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042851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Identified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invalid or incorrect records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could distort analytical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validation rules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restrict incorrect or inconsistent data entry.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Pivot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validate and manage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relationships between Products, Customers, Stores, and Orders tables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referential integrity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all datasets so that each transaction correctly maps to its related entities.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KPI calculations using Pivot Tables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validate cleaned data through sales, orders, discounts, and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330997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124E8-8A60-DC17-800E-7C4784A5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B602-EC5D-F34D-29DB-750E61AE7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498C2-F2BC-716C-FDC4-E21AC0296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Analysis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D6A0D9-B8A2-3811-4C0C-A64DF88CF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042851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Calculated </a:t>
            </a:r>
            <a:r>
              <a:rPr lang="en-US" b="1" dirty="0"/>
              <a:t>Total Sales and Average Sales</a:t>
            </a:r>
            <a:r>
              <a:rPr lang="en-US" dirty="0"/>
              <a:t> to evaluate overall revenue performance and order value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</a:t>
            </a:r>
            <a:r>
              <a:rPr lang="en-US" b="1" dirty="0"/>
              <a:t>order distribution by city</a:t>
            </a:r>
            <a:r>
              <a:rPr lang="en-US" dirty="0"/>
              <a:t> to identify high-performing and low-performing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</a:t>
            </a:r>
            <a:r>
              <a:rPr lang="en-US" b="1" dirty="0"/>
              <a:t>gender-wise and age-group-wise order analysis</a:t>
            </a:r>
            <a:r>
              <a:rPr lang="en-US" dirty="0"/>
              <a:t> to understand customer demographic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</a:t>
            </a:r>
            <a:r>
              <a:rPr lang="en-US" b="1" dirty="0"/>
              <a:t>sales performance by product category</a:t>
            </a:r>
            <a:r>
              <a:rPr lang="en-US" dirty="0"/>
              <a:t> to identify top-selling and underperforming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</a:t>
            </a:r>
            <a:r>
              <a:rPr lang="en-US" b="1" dirty="0"/>
              <a:t>store-type-wise sales performance</a:t>
            </a:r>
            <a:r>
              <a:rPr lang="en-US" dirty="0"/>
              <a:t> to compare Warehouses, Partner Stores, and Dark Stores.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Conducted </a:t>
            </a:r>
            <a:r>
              <a:rPr lang="en-US" b="1" dirty="0"/>
              <a:t>quarter-wise sales trend analysis</a:t>
            </a:r>
            <a:r>
              <a:rPr lang="en-US" dirty="0"/>
              <a:t> to identify seasonal patterns and revenue fluctuations.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Pivot Tables and interactive filters</a:t>
            </a:r>
            <a:r>
              <a:rPr lang="en-US" dirty="0"/>
              <a:t> to enable dynamic drill-down and comparative analysis.</a:t>
            </a:r>
          </a:p>
        </p:txBody>
      </p:sp>
    </p:spTree>
    <p:extLst>
      <p:ext uri="{BB962C8B-B14F-4D97-AF65-F5344CB8AC3E}">
        <p14:creationId xmlns:p14="http://schemas.microsoft.com/office/powerpoint/2010/main" val="5230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E35F5-6D26-13A5-DCFA-F4561A5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32F-B7B1-AFBF-1859-103B43410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4A332-4C2C-FBE5-970B-10A612693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Dashboard Design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E76C229-060F-258D-5EBF-8AC940AB7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087482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KPI cards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display Total Sales, Total Orders, Average Sales, and Average Discount for quick executive-level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Pivot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visualize sales and order trends across multiple business dimensions.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Donut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represent proportional data such as payment type and gender-wise sales distribution.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Category, City, Gender, and Time Period to enable dynamic filtering.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cross-filtering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 that all KPIs and charts update simultaneously based on slicer selections.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Maintained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clean, single-page dashboard layout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focused on usability and clarity for business users.</a:t>
            </a:r>
          </a:p>
        </p:txBody>
      </p:sp>
    </p:spTree>
    <p:extLst>
      <p:ext uri="{BB962C8B-B14F-4D97-AF65-F5344CB8AC3E}">
        <p14:creationId xmlns:p14="http://schemas.microsoft.com/office/powerpoint/2010/main" val="342625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41CCD-281E-0120-7C5B-E51C005C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D9A4-D736-BFE1-DE3D-CCFDB952C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B7879-A313-7429-E46E-674098912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Business Insights Part -1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B69F243-3EE7-A725-D248-ACD41D931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1087482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1. High Sales Driven by Frequent Small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Total sales of </a:t>
            </a:r>
            <a:r>
              <a:rPr lang="en-US" sz="2000" b="1" dirty="0"/>
              <a:t>₹75.04M</a:t>
            </a:r>
            <a:r>
              <a:rPr lang="en-US" sz="2000" dirty="0"/>
              <a:t> generated from </a:t>
            </a:r>
            <a:r>
              <a:rPr lang="en-US" sz="2000" b="1" dirty="0"/>
              <a:t>110K orders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Indicates strong customer engagement with </a:t>
            </a:r>
            <a:r>
              <a:rPr lang="en-US" sz="2000" b="1" dirty="0"/>
              <a:t>low-to-medium basket size</a:t>
            </a:r>
            <a:r>
              <a:rPr lang="en-US" sz="2000" dirty="0"/>
              <a:t> behavior.</a:t>
            </a:r>
          </a:p>
          <a:p>
            <a:endParaRPr lang="en-US" sz="2000" dirty="0"/>
          </a:p>
          <a:p>
            <a:r>
              <a:rPr lang="en-US" sz="2000" b="1" dirty="0"/>
              <a:t>2. Average Order Value Needs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Average sales per order is </a:t>
            </a:r>
            <a:r>
              <a:rPr lang="en-US" sz="2000" b="1" dirty="0"/>
              <a:t>₹682.22</a:t>
            </a:r>
            <a:r>
              <a:rPr lang="en-US" sz="2000" dirty="0"/>
              <a:t>, which is moderate.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Shows opportunity to increase revenue through </a:t>
            </a:r>
            <a:r>
              <a:rPr lang="en-US" sz="2000" b="1" dirty="0"/>
              <a:t>bundling and cross-selling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3. Heavy Reliance on Discounts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Average discount per order is </a:t>
            </a:r>
            <a:r>
              <a:rPr lang="en-US" sz="2000" b="1" dirty="0"/>
              <a:t>₹75.83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Sales growth is partially dependent on discounts, impacting margins.</a:t>
            </a:r>
          </a:p>
          <a:p>
            <a:endParaRPr lang="en-US" sz="2000" dirty="0"/>
          </a:p>
          <a:p>
            <a:r>
              <a:rPr lang="en-US" sz="2000" b="1" dirty="0"/>
              <a:t>4. Q3 is the Strongest Revenue Quarter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Quarter 3 shows the </a:t>
            </a:r>
            <a:r>
              <a:rPr lang="en-US" sz="2000" b="1" dirty="0"/>
              <a:t>highest sales peak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Sales are influenced by </a:t>
            </a:r>
            <a:r>
              <a:rPr lang="en-US" sz="2000" b="1" dirty="0"/>
              <a:t>seasonality and promotional cycles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325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1DC36-09F1-99A5-330A-8BA719CE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4135-47C1-0944-7F5B-C3934C5B0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367E5-CB45-C3BB-2D6E-FC7804CA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Business Insights Part -2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07C043-3E0F-CFFF-C8A7-F8414E064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10" y="1676716"/>
            <a:ext cx="1087482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5. Fruits Category is the Biggest Revenue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Fruits contribute the </a:t>
            </a:r>
            <a:r>
              <a:rPr lang="en-US" sz="2000" b="1" dirty="0"/>
              <a:t>highest sales among all categories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Confirms strong demand for daily essentials and repeat purchases.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6. Digital Payments Dominate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Wallet and UPI are the </a:t>
            </a:r>
            <a:r>
              <a:rPr lang="en-US" sz="2000" b="1" dirty="0"/>
              <a:t>most used payment methods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Indicates high digital adoption and reduced cash dependency.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7. Warehouse Stores Generate Maximum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Warehouse store type contributes the </a:t>
            </a:r>
            <a:r>
              <a:rPr lang="en-US" sz="2000" b="1" dirty="0"/>
              <a:t>highest total sales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Critical for handling high-volume orders and business scalability.</a:t>
            </a:r>
          </a:p>
        </p:txBody>
      </p:sp>
    </p:spTree>
    <p:extLst>
      <p:ext uri="{BB962C8B-B14F-4D97-AF65-F5344CB8AC3E}">
        <p14:creationId xmlns:p14="http://schemas.microsoft.com/office/powerpoint/2010/main" val="202589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63F49-7BC7-89AE-D30A-D42DAFAA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73FF-208F-DE8D-EA87-B851178FA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35C75-2D4B-A8FF-2599-84C0D8A88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8108BB6-6DC7-E949-72F5-A853FC002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71" y="1676716"/>
            <a:ext cx="1088571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delivered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end-to-end Excel data analysis project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raw data to final dashboard.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focus on data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structured cleaning and validation processes.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Transformed complex transactional data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and actionable business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dashboard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simplifies performance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and informed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business stakeholders.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Demonstrated practical application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Excel analytics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Showcased the ability to handle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data challenges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a business environment.</a:t>
            </a:r>
          </a:p>
        </p:txBody>
      </p:sp>
    </p:spTree>
    <p:extLst>
      <p:ext uri="{BB962C8B-B14F-4D97-AF65-F5344CB8AC3E}">
        <p14:creationId xmlns:p14="http://schemas.microsoft.com/office/powerpoint/2010/main" val="194554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9E57E-E250-0667-2204-6C5563E4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52B1-EEFF-4ECE-0A92-FB29E634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5" y="0"/>
            <a:ext cx="5976259" cy="696685"/>
          </a:xfrm>
        </p:spPr>
        <p:txBody>
          <a:bodyPr>
            <a:normAutofit fontScale="90000"/>
          </a:bodyPr>
          <a:lstStyle/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3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A2107-11CB-27B5-9464-25DB8933A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942" y="838358"/>
            <a:ext cx="10276115" cy="69668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Tools &amp; Skills Used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EAC4D88-ED06-A220-A411-D7621F71B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2" y="1676716"/>
            <a:ext cx="80554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Advanced Excel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Cleaning &amp;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Power Pivot &amp; Data Modeling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Dashboarding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Business Reporting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0827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1050</Words>
  <Application>Microsoft Office PowerPoint</Application>
  <PresentationFormat>Widescreen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 Black</vt:lpstr>
      <vt:lpstr>Office Theme</vt:lpstr>
      <vt:lpstr>BlinkIT Analysis Report</vt:lpstr>
      <vt:lpstr>PowerPoint Presentation</vt:lpstr>
      <vt:lpstr>BlinkIT Analysis Report</vt:lpstr>
      <vt:lpstr>BlinkIT Analysis Report </vt:lpstr>
      <vt:lpstr>BlinkIT Analysis Report </vt:lpstr>
      <vt:lpstr>BlinkIT Analysis Report </vt:lpstr>
      <vt:lpstr>BlinkIT Analysis Report </vt:lpstr>
      <vt:lpstr>BlinkIT Analysis Report </vt:lpstr>
      <vt:lpstr>BlinkIT Analysis Report </vt:lpstr>
      <vt:lpstr>BlinkIT Analysis Report </vt:lpstr>
      <vt:lpstr>BlinkIT Analysis Report </vt:lpstr>
      <vt:lpstr>BlinkIT Analysis Report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jangir.edu@gmail.com</dc:creator>
  <cp:lastModifiedBy>jangir.edu@gmail.com</cp:lastModifiedBy>
  <cp:revision>6</cp:revision>
  <dcterms:created xsi:type="dcterms:W3CDTF">2025-12-11T05:31:24Z</dcterms:created>
  <dcterms:modified xsi:type="dcterms:W3CDTF">2025-12-15T10:41:35Z</dcterms:modified>
</cp:coreProperties>
</file>